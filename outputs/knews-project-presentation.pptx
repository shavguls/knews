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e0a4174ae64e54" /><Relationship Type="http://schemas.openxmlformats.org/officeDocument/2006/relationships/extended-properties" Target="/docProps/app.xml" Id="Rd86f333aab0e46dc" /><Relationship Type="http://schemas.openxmlformats.org/officeDocument/2006/relationships/officeDocument" Target="/ppt/presentation.xml" Id="R98b33d86ddf0478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26f690b83d64641"/>
  </p:sldMasterIdLst>
  <p:notesMasterIdLst>
    <p:notesMasterId xmlns:r="http://schemas.openxmlformats.org/officeDocument/2006/relationships" r:id="Rf2ad84d135744a34"/>
  </p:notesMasterIdLst>
  <p:sldIdLst>
    <p:sldId xmlns:r="http://schemas.openxmlformats.org/officeDocument/2006/relationships" id="256" r:id="R4565c1fb8a8c4b4a"/>
    <p:sldId xmlns:r="http://schemas.openxmlformats.org/officeDocument/2006/relationships" id="257" r:id="R0486c8467f0c4ad9"/>
    <p:sldId xmlns:r="http://schemas.openxmlformats.org/officeDocument/2006/relationships" id="258" r:id="R2a05cccbcb034c72"/>
    <p:sldId xmlns:r="http://schemas.openxmlformats.org/officeDocument/2006/relationships" id="259" r:id="R28afe4d9ed464a65"/>
    <p:sldId xmlns:r="http://schemas.openxmlformats.org/officeDocument/2006/relationships" id="260" r:id="R4891ff38f8e54fc5"/>
    <p:sldId xmlns:r="http://schemas.openxmlformats.org/officeDocument/2006/relationships" id="261" r:id="Rebaeea34cfa24331"/>
    <p:sldId xmlns:r="http://schemas.openxmlformats.org/officeDocument/2006/relationships" id="262" r:id="R67c74f68d85d4374"/>
    <p:sldId xmlns:r="http://schemas.openxmlformats.org/officeDocument/2006/relationships" id="263" r:id="R6133f24a022a4468"/>
    <p:sldId xmlns:r="http://schemas.openxmlformats.org/officeDocument/2006/relationships" id="264" r:id="R310138a2a9a44ee5"/>
    <p:sldId xmlns:r="http://schemas.openxmlformats.org/officeDocument/2006/relationships" id="265" r:id="R4d424b7dc75f4f2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a6be9a87dc04abb" /><Relationship Type="http://schemas.openxmlformats.org/officeDocument/2006/relationships/slideMaster" Target="/ppt/slideMasters/slideMaster1.xml" Id="R926f690b83d64641" /><Relationship Type="http://schemas.openxmlformats.org/officeDocument/2006/relationships/notesMaster" Target="/ppt/notesMasters/notesMaster1.xml" Id="Rf2ad84d135744a34" /><Relationship Type="http://schemas.openxmlformats.org/officeDocument/2006/relationships/presProps" Target="/ppt/presProps.xml" Id="R5f87f1aaccb4497c" /><Relationship Type="http://schemas.openxmlformats.org/officeDocument/2006/relationships/tableStyles" Target="/ppt/tableStyles.xml" Id="Red842b0dc4e84687" /><Relationship Type="http://schemas.openxmlformats.org/officeDocument/2006/relationships/slide" Target="/ppt/slides/slide1.xml" Id="R4565c1fb8a8c4b4a" /><Relationship Type="http://schemas.openxmlformats.org/officeDocument/2006/relationships/slide" Target="/ppt/slides/slide2.xml" Id="R0486c8467f0c4ad9" /><Relationship Type="http://schemas.openxmlformats.org/officeDocument/2006/relationships/slide" Target="/ppt/slides/slide3.xml" Id="R2a05cccbcb034c72" /><Relationship Type="http://schemas.openxmlformats.org/officeDocument/2006/relationships/slide" Target="/ppt/slides/slide4.xml" Id="R28afe4d9ed464a65" /><Relationship Type="http://schemas.openxmlformats.org/officeDocument/2006/relationships/slide" Target="/ppt/slides/slide5.xml" Id="R4891ff38f8e54fc5" /><Relationship Type="http://schemas.openxmlformats.org/officeDocument/2006/relationships/slide" Target="/ppt/slides/slide6.xml" Id="Rebaeea34cfa24331" /><Relationship Type="http://schemas.openxmlformats.org/officeDocument/2006/relationships/slide" Target="/ppt/slides/slide7.xml" Id="R67c74f68d85d4374" /><Relationship Type="http://schemas.openxmlformats.org/officeDocument/2006/relationships/slide" Target="/ppt/slides/slide8.xml" Id="R6133f24a022a4468" /><Relationship Type="http://schemas.openxmlformats.org/officeDocument/2006/relationships/slide" Target="/ppt/slides/slide9.xml" Id="R310138a2a9a44ee5" /><Relationship Type="http://schemas.openxmlformats.org/officeDocument/2006/relationships/slide" Target="/ppt/slides/slide10.xml" Id="R4d424b7dc75f4f2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4c86001a30460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f5f250b039b48b8" /><Relationship Type="http://schemas.openxmlformats.org/officeDocument/2006/relationships/notesMaster" Target="/ppt/notesMasters/notesMaster1.xml" Id="Rf84e5792f573407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260c4cf8924fae" /><Relationship Type="http://schemas.openxmlformats.org/officeDocument/2006/relationships/notesMaster" Target="/ppt/notesMasters/notesMaster1.xml" Id="R2a81a526c5694d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fe91da9a6b4eab" /><Relationship Type="http://schemas.openxmlformats.org/officeDocument/2006/relationships/notesMaster" Target="/ppt/notesMasters/notesMaster1.xml" Id="R5fc15d8750a8423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cad2998b38e460a" /><Relationship Type="http://schemas.openxmlformats.org/officeDocument/2006/relationships/notesMaster" Target="/ppt/notesMasters/notesMaster1.xml" Id="Rd2a5d6769fd84c4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294692261b54a5c" /><Relationship Type="http://schemas.openxmlformats.org/officeDocument/2006/relationships/notesMaster" Target="/ppt/notesMasters/notesMaster1.xml" Id="R929601ea1da641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a8f7d56bb09419b" /><Relationship Type="http://schemas.openxmlformats.org/officeDocument/2006/relationships/notesMaster" Target="/ppt/notesMasters/notesMaster1.xml" Id="Rb9e5af3b11954a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987b44845c4705" /><Relationship Type="http://schemas.openxmlformats.org/officeDocument/2006/relationships/notesMaster" Target="/ppt/notesMasters/notesMaster1.xml" Id="R71e946b4c97541f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c7ebc18df8947ca" /><Relationship Type="http://schemas.openxmlformats.org/officeDocument/2006/relationships/notesMaster" Target="/ppt/notesMasters/notesMaster1.xml" Id="R291a993e9c63436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435b578fdd84a2c" /><Relationship Type="http://schemas.openxmlformats.org/officeDocument/2006/relationships/notesMaster" Target="/ppt/notesMasters/notesMaster1.xml" Id="R129c217d8ebc48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a22d43771d4c7b" /><Relationship Type="http://schemas.openxmlformats.org/officeDocument/2006/relationships/notesMaster" Target="/ppt/notesMasters/notesMaster1.xml" Id="R09217450e5d9463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4540ecfe2e400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6018b19c5f4bd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7395fc11084a1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2d25680a2643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a816ac838540e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eaa5be236b8481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ded89cf4b24f8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abcc9685b84aea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636a591db24913" /><Relationship Type="http://schemas.openxmlformats.org/officeDocument/2006/relationships/image" Target="/ppt/media/image.png" Id="Ra480b6a28b5944a5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995712b5fe4838" /><Relationship Type="http://schemas.openxmlformats.org/officeDocument/2006/relationships/image" Target="/ppt/media/image2.png" Id="R8a6ddfc0859b49c1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4826000"/>
            <a:ext cx="2595934" cy="1168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4826000"/>
            <a:ext cx="2595934" cy="1168400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9.xml><?xml version="1.0" encoding="utf-8"?>
<p:sldLayout xmlns:p="http://schemas.openxmlformats.org/presentationml/2006/main" preserve="1" userDrawn="1">
  <p:cSld name="36 Field Grid">
    <p:bg>
      <p:bgPr>
        <a:blipFill xmlns:a="http://schemas.openxmlformats.org/drawingml/2006/main" rotWithShape="1">
          <a:blip xmlns:r="http://schemas.openxmlformats.org/officeDocument/2006/relationships" r:embed="Ra480b6a28b5944a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 userDrawn="1">
  <p:cSld name="48 Field Grid">
    <p:bg>
      <p:bgPr>
        <a:blipFill xmlns:a="http://schemas.openxmlformats.org/drawingml/2006/main" rotWithShape="1">
          <a:blip xmlns:r="http://schemas.openxmlformats.org/officeDocument/2006/relationships" r:embed="R8a6ddfc0859b49c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339392085934bf6" /><Relationship Type="http://schemas.openxmlformats.org/officeDocument/2006/relationships/slideLayout" Target="/ppt/slideLayouts/slideLayout1.xml" Id="Rf378026ac2124571" /><Relationship Type="http://schemas.openxmlformats.org/officeDocument/2006/relationships/slideLayout" Target="/ppt/slideLayouts/slideLayout2.xml" Id="R18b73b0c18ba4451" /><Relationship Type="http://schemas.openxmlformats.org/officeDocument/2006/relationships/slideLayout" Target="/ppt/slideLayouts/slideLayout3.xml" Id="R353eb580b2a14c7c" /><Relationship Type="http://schemas.openxmlformats.org/officeDocument/2006/relationships/slideLayout" Target="/ppt/slideLayouts/slideLayout4.xml" Id="Rafd64d55d1fc49ca" /><Relationship Type="http://schemas.openxmlformats.org/officeDocument/2006/relationships/slideLayout" Target="/ppt/slideLayouts/slideLayout5.xml" Id="R240fb53af9f14326" /><Relationship Type="http://schemas.openxmlformats.org/officeDocument/2006/relationships/slideLayout" Target="/ppt/slideLayouts/slideLayout6.xml" Id="R2f5dd2e9038f499a" /><Relationship Type="http://schemas.openxmlformats.org/officeDocument/2006/relationships/slideLayout" Target="/ppt/slideLayouts/slideLayout7.xml" Id="Radaad7b0a74e418e" /><Relationship Type="http://schemas.openxmlformats.org/officeDocument/2006/relationships/slideLayout" Target="/ppt/slideLayouts/slideLayout8.xml" Id="R978b98e469804009" /><Relationship Type="http://schemas.openxmlformats.org/officeDocument/2006/relationships/slideLayout" Target="/ppt/slideLayouts/slideLayout9.xml" Id="R5b66111efb004e7c" /><Relationship Type="http://schemas.openxmlformats.org/officeDocument/2006/relationships/slideLayout" Target="/ppt/slideLayouts/slideLayout10.xml" Id="R76fbf79233e6418f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t>Click to edit Master text styles</a:t>
            </a:r>
          </a:p>
          <a:p xmlns:a="http://schemas.openxmlformats.org/drawingml/2006/main">
            <a:pPr>
              <a:buNone/>
            </a:pPr>
            <a:r>
              <a:t>Second level</a:t>
            </a:r>
          </a:p>
          <a:p xmlns:a="http://schemas.openxmlformats.org/drawingml/2006/main">
            <a:pPr>
              <a:buNone/>
            </a:pPr>
            <a:r>
              <a:t>Third level</a:t>
            </a:r>
          </a:p>
          <a:p xmlns:a="http://schemas.openxmlformats.org/drawingml/2006/main">
            <a:pPr>
              <a:buNone/>
            </a:pPr>
            <a:r>
              <a:t>Fourth level</a:t>
            </a:r>
          </a:p>
          <a:p xmlns:a="http://schemas.openxmlformats.org/drawingml/2006/main">
            <a:pPr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1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1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78026ac2124571"/>
    <p:sldLayoutId xmlns:r="http://schemas.openxmlformats.org/officeDocument/2006/relationships" id="2147483650" r:id="R18b73b0c18ba4451"/>
    <p:sldLayoutId xmlns:r="http://schemas.openxmlformats.org/officeDocument/2006/relationships" id="2147483651" r:id="R353eb580b2a14c7c"/>
    <p:sldLayoutId xmlns:r="http://schemas.openxmlformats.org/officeDocument/2006/relationships" id="2147483652" r:id="Rafd64d55d1fc49ca"/>
    <p:sldLayoutId xmlns:r="http://schemas.openxmlformats.org/officeDocument/2006/relationships" id="2147483653" r:id="R240fb53af9f14326"/>
    <p:sldLayoutId xmlns:r="http://schemas.openxmlformats.org/officeDocument/2006/relationships" id="2147483654" r:id="R2f5dd2e9038f499a"/>
    <p:sldLayoutId xmlns:r="http://schemas.openxmlformats.org/officeDocument/2006/relationships" id="2147483655" r:id="Radaad7b0a74e418e"/>
    <p:sldLayoutId xmlns:r="http://schemas.openxmlformats.org/officeDocument/2006/relationships" id="2147483656" r:id="R978b98e469804009"/>
    <p:sldLayoutId xmlns:r="http://schemas.openxmlformats.org/officeDocument/2006/relationships" id="2147483657" r:id="R5b66111efb004e7c"/>
    <p:sldLayoutId xmlns:r="http://schemas.openxmlformats.org/officeDocument/2006/relationships" id="2147483658" r:id="R76fbf79233e6418f"/>
  </p:sldLayoutIdLst>
  <p:hf hd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29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b198a97d3c4c5a" /><Relationship Type="http://schemas.openxmlformats.org/officeDocument/2006/relationships/notesSlide" Target="/ppt/notesSlides/notesSlide1.xml" Id="R5a33d6c1241a4dc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ded4fb9133143d6" /><Relationship Type="http://schemas.openxmlformats.org/officeDocument/2006/relationships/notesSlide" Target="/ppt/notesSlides/notesSlide2.xml" Id="Rd2113920e4c54ce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270ae00475f420d" /><Relationship Type="http://schemas.openxmlformats.org/officeDocument/2006/relationships/notesSlide" Target="/ppt/notesSlides/notesSlide3.xml" Id="R65a035e2998544c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0c0d9159a7410c" /><Relationship Type="http://schemas.openxmlformats.org/officeDocument/2006/relationships/notesSlide" Target="/ppt/notesSlides/notesSlide4.xml" Id="Rf18ace3cbfba4ea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be4cb3726184087" /><Relationship Type="http://schemas.openxmlformats.org/officeDocument/2006/relationships/notesSlide" Target="/ppt/notesSlides/notesSlide5.xml" Id="R9cef73b19af643f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d99b28c909f4dc4" /><Relationship Type="http://schemas.openxmlformats.org/officeDocument/2006/relationships/notesSlide" Target="/ppt/notesSlides/notesSlide6.xml" Id="R2660f95f5fec4d2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6e1eed3d08c42a6" /><Relationship Type="http://schemas.openxmlformats.org/officeDocument/2006/relationships/notesSlide" Target="/ppt/notesSlides/notesSlide7.xml" Id="R25f153a662a247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51d68344c704820" /><Relationship Type="http://schemas.openxmlformats.org/officeDocument/2006/relationships/notesSlide" Target="/ppt/notesSlides/notesSlide8.xml" Id="R3111c5498b2f4de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0681ba5c7c24a0e" /><Relationship Type="http://schemas.openxmlformats.org/officeDocument/2006/relationships/notesSlide" Target="/ppt/notesSlides/notesSlide9.xml" Id="Rfb084c5ce990414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c29b5ab37434ee6" /><Relationship Type="http://schemas.openxmlformats.org/officeDocument/2006/relationships/notesSlide" Target="/ppt/notesSlides/notesSlide10.xml" Id="Rc643ed323f5d429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8BFE633A-551A-54B1-5F36-B66CCEBD8D53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738755"/>
            <a:ext cx="9448800" cy="249149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7200"/>
              <a:t>Knews</a:t>
            </a:r>
          </a:p>
          <a:p xmlns:a="http://schemas.openxmlformats.org/drawingml/2006/main">
            <a:r>
              <a:rPr sz="7200"/>
              <a:t>News Platform</a:t>
            </a:r>
          </a:p>
        </p:txBody>
      </p:sp>
      <p:sp>
        <p:nvSpPr>
          <p:cNvPr id="5" name="Subtitle 4">
            <a:extLst xmlns:a="http://schemas.openxmlformats.org/drawingml/2006/main">
              <a:ext uri="{FF2B5EF4-FFF2-40B4-BE49-F238E27FC236}">
                <a16:creationId xmlns:a16="http://schemas.microsoft.com/office/drawing/2014/main" id="{5FD18192-DA46-5723-C973-8A30A162A3C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789429"/>
            <a:ext cx="3568700" cy="121841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2000"/>
              <a:t>Rati Shavgulidze</a:t>
            </a:r>
          </a:p>
          <a:p xmlns:a="http://schemas.openxmlformats.org/drawingml/2006/main">
            <a:r>
              <a:rPr sz="2000"/>
              <a:t>Project presentation</a:t>
            </a:r>
          </a:p>
          <a:p xmlns:a="http://schemas.openxmlformats.org/drawingml/2006/main">
            <a:r>
              <a:rPr sz="2000"/>
              <a:t>Laravel 12 web application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38267A14-2A60-F4BB-37BE-E21D050F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99" y="392241"/>
            <a:ext cx="3578411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1800"/>
              <a:t>KNEWS</a:t>
            </a:r>
          </a:p>
        </p:txBody>
      </p:sp>
      <p:sp>
        <p:nvSpPr>
          <p:cNvPr id="8" name="Subtitle 4">
            <a:extLst xmlns:a="http://schemas.openxmlformats.org/drawingml/2006/main">
              <a:ext uri="{FF2B5EF4-FFF2-40B4-BE49-F238E27FC236}">
                <a16:creationId xmlns:a16="http://schemas.microsoft.com/office/drawing/2014/main" id="{7A9AD72C-F254-8F77-B9BB-AA0D9A02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92241"/>
            <a:ext cx="3911600" cy="64915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buNone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>
              <a:lnSpc>
                <a:spcPct val="90000"/>
              </a:lnSpc>
              <a:spcBef>
                <a:spcPts val="500"/>
              </a:spcBef>
              <a:buNone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r">
              <a:buNone/>
            </a:pPr>
            <a:r>
              <a:rPr sz="1800"/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563241670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CCB27A2-1D9F-6514-0821-C7CC3F6755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3FD2F4B0-1B4E-4F78-8608-85E7ADD907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9448800" cy="366919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4800"/>
              <a:t>News projects need publishing control,</a:t>
            </a:r>
          </a:p>
          <a:p xmlns:a="http://schemas.openxmlformats.org/drawingml/2006/main">
            <a:r>
              <a:rPr sz="4800"/>
              <a:t>engaged readers,</a:t>
            </a:r>
          </a:p>
          <a:p xmlns:a="http://schemas.openxmlformats.org/drawingml/2006/main">
            <a:r>
              <a:rPr sz="4800"/>
              <a:t>and reliable live data.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B4C5563-C118-E2D4-2A1A-F84171FF9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953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7EC77EB-07E7-2818-9132-6416EC5E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365501"/>
            <a:ext cx="3568700" cy="2628900"/>
          </a:xfrm>
          <a:prstGeom xmlns:a="http://schemas.openxmlformats.org/drawingml/2006/main" prst="roundRect">
            <a:avLst>
              <a:gd name="adj" fmla="val 3585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14F9DBD7-0427-326B-17D5-5DD215C4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821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Reader problem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Users need one place to read published news, search articles, react, comment, and save items.</a:t>
            </a:r>
          </a:p>
        </p:txBody>
      </p:sp>
      <p:sp>
        <p:nvSpPr>
          <p:cNvPr id="1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81FFF27-06E1-B925-B772-E8C07A02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6094" y="4146160"/>
            <a:ext cx="2949339" cy="143287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Admin problem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Editors need protected tools to create articles, set hero stories, control status, and manage images.</a:t>
            </a:r>
          </a:p>
        </p:txBody>
      </p:sp>
      <p:sp>
        <p:nvSpPr>
          <p:cNvPr id="1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182FC54-B4D0-2FD9-7909-F4321F701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7645" y="3694101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12304657-C94E-6AEC-95B3-FF04FD52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3270" y="3694102"/>
            <a:ext cx="233806" cy="233717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5661830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79EB1316-1603-4369-8C3E-5A5CAB0F13B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/>
              <a:t>Public news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/>
              <a:t>Homepage hero, dispatch list, search, article pages, and profile links.</a:t>
            </a:r>
          </a:p>
        </p:txBody>
      </p:sp>
      <p:sp>
        <p:nvSpPr>
          <p:cNvPr id="556" name="Google Shape;556;p61">
            <a:extLst xmlns:a="http://schemas.openxmlformats.org/drawingml/2006/main">
              <a:ext uri="{FF2B5EF4-FFF2-40B4-BE49-F238E27FC236}">
                <a16:creationId xmlns:a16="http://schemas.microsoft.com/office/drawing/2014/main" id="{B56061C7-F278-4C65-BE78-E57C9F6C19E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A6E40D1D-5FEB-494C-86A9-59B99FC71BB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User interaction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Registration, login, comments, reactions, bookmarks, and saved-news page.</a:t>
            </a:r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4EB42427-CCC2-48E4-8A22-383CF573ADB8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Live context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Weather, crypto, currency, air-quality, and SPAR deal pages with cached external data.</a:t>
            </a: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FB92A9BF-BD71-49ED-96FC-443574155D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Solution: a Laravel news portal</a:t>
            </a:r>
          </a:p>
        </p:txBody>
      </p:sp>
      <p:sp>
        <p:nvSpPr>
          <p:cNvPr id="561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FA9FFE52-FB95-460E-850B-287C5694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433102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2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ADF136DC-E745-4394-8308-CC2743B6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66" y="3429011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3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3A9CEE11-6102-4FFF-9342-8A3ED3AD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664" y="3474581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41505647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52A30403-4B2D-2E15-7A2F-51A6DF6BE5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0A2BB6CD-1085-4638-68F3-7000FD29EA0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9"/>
            <a:ext cx="7835900" cy="58158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Main Features</a:t>
            </a: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390FBCE0-CCE2-0D7F-19D7-0DA59E2FB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13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31291836-42DE-4BA2-7C66-683137F1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Reader-facing features</a:t>
            </a:r>
          </a:p>
        </p:txBody>
      </p:sp>
      <p:sp>
        <p:nvSpPr>
          <p:cNvPr id="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3D399E38-72C8-159B-DE08-FC689A75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48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Published news only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Search dispatches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Comments, reactions, bookmarks</a:t>
            </a:r>
          </a:p>
        </p:txBody>
      </p:sp>
      <p:sp>
        <p:nvSpPr>
          <p:cNvPr id="8" name="Rounded Rectangle 7">
            <a:extLst xmlns:a="http://schemas.openxmlformats.org/drawingml/2006/main">
              <a:ext uri="{FF2B5EF4-FFF2-40B4-BE49-F238E27FC236}">
                <a16:creationId xmlns:a16="http://schemas.microsoft.com/office/drawing/2014/main" id="{5E1586E9-BDFD-E84E-20C0-875E339DC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5" y="3025321"/>
            <a:ext cx="5533887" cy="132080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E93465-12EE-49A8-048B-A3C97C2D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3274205"/>
            <a:ext cx="4986886" cy="8777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Admin and data features</a:t>
            </a: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F1EA821-AA26-C1FC-F948-D100ABDE2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20" y="4514850"/>
            <a:ext cx="5236652" cy="977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News CRUD and hero control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Image upload with URL fallback</a:t>
            </a:r>
          </a:p>
          <a:p xmlns:a="http://schemas.openxmlformats.org/drawingml/2006/main">
            <a:pPr marL="228600" indent="-228600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Char char="•"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JSON endpoint at /api/news</a:t>
            </a:r>
          </a:p>
        </p:txBody>
      </p:sp>
      <p:sp>
        <p:nvSpPr>
          <p:cNvPr id="14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3566714-9098-3B48-6D62-954DC695F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1157513"/>
            <a:ext cx="11404599" cy="16292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sz="18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Overview</a:t>
            </a:r>
          </a:p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Knews combines a public news site, authenticated community actions, and an admin CMS in one server-rendered Laravel application.</a:t>
            </a: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7F409CA-A992-D5A3-DF49-49CFA53E4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39" y="5617936"/>
            <a:ext cx="11404599" cy="529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Demo flow: homepage -&gt; article -&gt; login -&gt; bookmark/comment -&gt; admin news panel -&gt; live data pages.</a:t>
            </a:r>
          </a:p>
        </p:txBody>
      </p:sp>
    </p:spTree>
    <p:extLst>
      <p:ext uri="{BB962C8B-B14F-4D97-AF65-F5344CB8AC3E}">
        <p14:creationId xmlns:p14="http://schemas.microsoft.com/office/powerpoint/2010/main" val="34624586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1D44F7AB-1763-C9DF-D07A-AAEE9DB54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3335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EA69B8B-AC82-5D8D-6DC3-1435E10E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602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Response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Eloquent models, cache, and external APIs feed Blade views or the JSON API.</a:t>
            </a:r>
          </a:p>
        </p:txBody>
      </p:sp>
      <p:sp>
        <p:nvSpPr>
          <p:cNvPr id="2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B6300F8B-E97D-EE9E-4225-90702D36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7334" y="5544658"/>
            <a:ext cx="1686860" cy="2070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View/API</a:t>
            </a:r>
          </a:p>
        </p:txBody>
      </p:sp>
      <p:sp>
        <p:nvSpPr>
          <p:cNvPr id="28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D866E886-664F-3FB7-D53F-EC59490BD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0678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9164D62F-0E28-6899-D1A2-846CA2FAA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3347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4B5E1C3-F19B-1098-5782-2ABB1D1A9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8614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Laravel controller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Routes call controllers. Controllers validate input, enforce access, and fetch data.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0D46C2F3-E047-949F-E426-85D04E8B5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3022600"/>
            <a:ext cx="2581975" cy="29718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C2D97B83-3C45-E37A-21C3-D5F333EEE61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18967" y="5549772"/>
            <a:ext cx="1730533" cy="19290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Routes</a:t>
            </a:r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AD63574A-89C7-955F-74B9-B91B30FDEB2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B8BE5863-55C6-337E-1F38-84416561ED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Application Flow</a:t>
            </a:r>
          </a:p>
        </p:txBody>
      </p:sp>
      <p:sp>
        <p:nvSpPr>
          <p:cNvPr id="17" name="Text Placeholder 16">
            <a:extLst xmlns:a="http://schemas.openxmlformats.org/drawingml/2006/main">
              <a:ext uri="{FF2B5EF4-FFF2-40B4-BE49-F238E27FC236}">
                <a16:creationId xmlns:a16="http://schemas.microsoft.com/office/drawing/2014/main" id="{44FE8A3D-53A2-1416-CACF-BD6787D6F073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4547346" y="5544658"/>
            <a:ext cx="1686860" cy="20701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Controller</a:t>
            </a:r>
          </a:p>
        </p:txBody>
      </p:sp>
      <p:cxnSp>
        <p:nvCxnSpPr>
          <p:cNvPr id="52" name="Google Shape;2259;p159"/>
          <p:cNvCxnSpPr>
            <a:stCxn xmlns:a="http://schemas.openxmlformats.org/drawingml/2006/main" id="3" idx="2"/>
          </p:cNvCxnSpPr>
          <p:nvPr/>
        </p:nvCxnSpPr>
        <p:spPr>
          <a:xfrm xmlns:a="http://schemas.openxmlformats.org/drawingml/2006/main">
            <a:off x="618967" y="5341621"/>
            <a:ext cx="12245400" cy="3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 xmlns:a="http://schemas.openxmlformats.org/drawingml/2006/main">
              <a:ext uri="{FF2B5EF4-FFF2-40B4-BE49-F238E27FC236}">
                <a16:creationId xmlns:a16="http://schemas.microsoft.com/office/drawing/2014/main" id="{C18CA270-D7FF-5F52-A97F-D8D6C3E59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67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5" name="Google Shape;2261;p159">
            <a:extLst xmlns:a="http://schemas.openxmlformats.org/drawingml/2006/main">
              <a:ext uri="{FF2B5EF4-FFF2-40B4-BE49-F238E27FC236}">
                <a16:creationId xmlns:a16="http://schemas.microsoft.com/office/drawing/2014/main" id="{A1A1F5EF-D65E-D2BC-463A-C5FFC2E3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0690" y="5288071"/>
            <a:ext cx="107100" cy="107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dk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8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E4FBD0D2-0150-2466-E4B2-FBFCAE3E3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967" y="3325812"/>
            <a:ext cx="2145400" cy="16779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None/>
              <a:defRPr sz="16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latin typeface="Helvetica Neue"/>
                <a:ea typeface="Helvetica Neue"/>
                <a:cs typeface="Helvetica Neue"/>
              </a:rPr>
              <a:t>Browser request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User opens /, /news/{id}, /weather, or submits a form route.</a:t>
            </a:r>
          </a:p>
        </p:txBody>
      </p:sp>
    </p:spTree>
    <p:extLst>
      <p:ext uri="{BB962C8B-B14F-4D97-AF65-F5344CB8AC3E}">
        <p14:creationId xmlns:p14="http://schemas.microsoft.com/office/powerpoint/2010/main" val="6879125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69A7B84F-6F74-164C-037A-8CB20BDDFE1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E3D44A9C-8B13-1683-4B06-D873237D1D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35687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Data Model</a:t>
            </a:r>
          </a:p>
        </p:txBody>
      </p:sp>
      <p:sp>
        <p:nvSpPr>
          <p:cNvPr id="1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47BF48D-F983-118D-D2F7-E43AACA9F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3937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Article content, images, status, hero flag, and publication time.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AF6A488A-017C-2F49-A724-CF4366590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3937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news</a:t>
            </a:r>
          </a:p>
        </p:txBody>
      </p:sp>
      <p:sp>
        <p:nvSpPr>
          <p:cNvPr id="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9230B05-F497-DE80-839D-8A9B7CC1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13970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97859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Laravel users table plus an is_admin flag for protected admin routes.</a:t>
            </a:r>
          </a:p>
        </p:txBody>
      </p:sp>
      <p:sp>
        <p:nvSpPr>
          <p:cNvPr id="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D01219A0-506D-650D-E147-5B8132027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13970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users</a:t>
            </a:r>
          </a:p>
        </p:txBody>
      </p:sp>
      <p:sp>
        <p:nvSpPr>
          <p:cNvPr id="1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5BFF3A2-62B8-C64E-A147-B21AD9CBB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23749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User/article comments with owner and admin delete rules.</a:t>
            </a:r>
          </a:p>
        </p:txBody>
      </p:sp>
      <p:sp>
        <p:nvSpPr>
          <p:cNvPr id="15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7608A34-9B1E-8319-01AB-B013BBE6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23749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comments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845C908-26F4-26EB-1CA7-AABB89BB3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33655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One reaction per user/article with a unique database key.</a:t>
            </a:r>
          </a:p>
        </p:txBody>
      </p:sp>
      <p:sp>
        <p:nvSpPr>
          <p:cNvPr id="17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228D802D-D8A9-E697-144D-8E7477F29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33655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reactions</a:t>
            </a: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CCFFBE1-F391-100C-F0AF-8B730BA0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43561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Saved published articles with a unique user/news key.</a:t>
            </a:r>
          </a:p>
        </p:txBody>
      </p:sp>
      <p:sp>
        <p:nvSpPr>
          <p:cNvPr id="19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BDD61A53-13D8-0ED5-E0A9-5CB7D871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43561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bookmarks</a:t>
            </a: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8FDE77B0-FFF1-E69E-8C9B-D6E2B987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2445" y="5359401"/>
            <a:ext cx="55058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88554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Deleting users or articles cascades to comments, reactions, and bookmarks.</a:t>
            </a:r>
          </a:p>
        </p:txBody>
      </p:sp>
      <p:sp>
        <p:nvSpPr>
          <p:cNvPr id="21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5657569D-FC7C-5C9F-EA43-E13413EF7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245" y="5359401"/>
            <a:ext cx="1784755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spcBef>
                <a:spcPts val="1300"/>
              </a:spcBef>
              <a:spcAft>
                <a:spcPts val="1300"/>
              </a:spcAft>
              <a:buNone/>
            </a:pPr>
            <a:r>
              <a:rPr sz="1600">
                <a:solidFill>
                  <a:prstClr val="black"/>
                </a:solidFill>
                <a:latin typeface="Helvetica Neue Medium"/>
                <a:ea typeface="Helvetica Neue Medium"/>
                <a:cs typeface="Helvetica Neue Medium"/>
              </a:rPr>
              <a:t>cascade rules</a:t>
            </a:r>
          </a:p>
        </p:txBody>
      </p:sp>
    </p:spTree>
    <p:extLst>
      <p:ext uri="{BB962C8B-B14F-4D97-AF65-F5344CB8AC3E}">
        <p14:creationId xmlns:p14="http://schemas.microsoft.com/office/powerpoint/2010/main" val="30816403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DCDD464D-3316-879D-91C3-30E54491AD1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</a:p>
        </p:txBody>
      </p:sp>
      <p:sp>
        <p:nvSpPr>
          <p:cNvPr id="11" name="Title 10">
            <a:extLst xmlns:a="http://schemas.openxmlformats.org/drawingml/2006/main">
              <a:ext uri="{FF2B5EF4-FFF2-40B4-BE49-F238E27FC236}">
                <a16:creationId xmlns:a16="http://schemas.microsoft.com/office/drawing/2014/main" id="{8D39B68E-326B-DDEB-2069-B8BB0D01F0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5534180" cy="104749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Technology Stack</a:t>
            </a:r>
          </a:p>
        </p:txBody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29B30B4D-AB5C-65DB-5658-753508EB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" name="Rounded Rectangle 1">
            <a:extLst xmlns:a="http://schemas.openxmlformats.org/drawingml/2006/main">
              <a:ext uri="{FF2B5EF4-FFF2-40B4-BE49-F238E27FC236}">
                <a16:creationId xmlns:a16="http://schemas.microsoft.com/office/drawing/2014/main" id="{2F75E60C-F9D7-0EB1-DB87-30BB4B88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85955"/>
            <a:ext cx="12192000" cy="148590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48F23094-2741-BF93-9618-593A39D42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052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PHP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63831D1-6AB6-9FDC-DF3D-910C1C60EA7D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697670" y="3740150"/>
            <a:ext cx="2066698" cy="615950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PHP 8.2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Laravel 12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D0C74EF0-61EA-0AD2-19B0-75CAAA4B8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5905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6130B530-1157-40A3-0161-21ADDD16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3257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Blade</a:t>
            </a:r>
          </a:p>
        </p:txBody>
      </p:sp>
      <p:sp>
        <p:nvSpPr>
          <p:cNvPr id="3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7DE51176-FC24-C3CB-45B8-8EA48AFA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875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Server views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Vite assets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B5992B1D-5E0E-664C-375F-216AFC12E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1986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54A023A6-B45F-0FFE-0391-DBB435439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9338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ORM</a:t>
            </a:r>
          </a:p>
        </p:txBody>
      </p:sp>
      <p:sp>
        <p:nvSpPr>
          <p:cNvPr id="39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E890D67-9D53-7808-5E55-E05F923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956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Eloquent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migrations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EE6595D-2709-1F7C-8B9A-47164A9A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4191" y="2032000"/>
            <a:ext cx="2581975" cy="2656541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chemeClr val="bg2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0DD8DA38-D646-1FA9-28D4-71AFE0F8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1543" y="2251890"/>
            <a:ext cx="2133315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100000"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5000" u="none" cap="none">
                <a:ln>
                  <a:noFill/>
                </a:ln>
                <a:solidFill>
                  <a:prstClr val="black"/>
                </a:solidFill>
                <a:latin typeface="Helvetica Neue"/>
                <a:ea typeface="Helvetica Neue"/>
                <a:cs typeface="Helvetica Neue"/>
              </a:rPr>
              <a:t>APIs</a:t>
            </a:r>
          </a:p>
        </p:txBody>
      </p:sp>
      <p:sp>
        <p:nvSpPr>
          <p:cNvPr id="4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5D7CE5C2-7A4C-5B39-AEB6-25510E71F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8161" y="3740150"/>
            <a:ext cx="2066698" cy="615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Open-Meteo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400">
                <a:latin typeface="Helvetica Neue"/>
                <a:ea typeface="Helvetica Neue"/>
                <a:cs typeface="Helvetica Neue"/>
              </a:rPr>
              <a:t>CoinGecko/NBG</a:t>
            </a:r>
          </a:p>
        </p:txBody>
      </p:sp>
      <p:sp>
        <p:nvSpPr>
          <p:cNvPr id="4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21B19CD8-2634-6048-888D-54374B2A6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1100" y="400899"/>
            <a:ext cx="5539873" cy="990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>
              <a:lnSpc>
                <a:spcPct val="90000"/>
              </a:lnSpc>
              <a:spcBef>
                <a:spcPts val="1000"/>
              </a:spcBef>
              <a:buChar char="•"/>
              <a:defRPr sz="24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>
              <a:lnSpc>
                <a:spcPct val="90000"/>
              </a:lnSpc>
              <a:spcBef>
                <a:spcPts val="500"/>
              </a:spcBef>
              <a:buChar char="•"/>
              <a:defRPr sz="20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>
              <a:lnSpc>
                <a:spcPct val="90000"/>
              </a:lnSpc>
              <a:spcBef>
                <a:spcPts val="500"/>
              </a:spcBef>
              <a:buChar char="•"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600">
                <a:latin typeface="Helvetica Neue"/>
                <a:ea typeface="Helvetica Neue"/>
                <a:cs typeface="Helvetica Neue"/>
              </a:rPr>
              <a:t>The stack keeps the app server-rendered, caches live data, and exposes published articles through /api/news.</a:t>
            </a:r>
          </a:p>
        </p:txBody>
      </p:sp>
    </p:spTree>
    <p:extLst>
      <p:ext uri="{BB962C8B-B14F-4D97-AF65-F5344CB8AC3E}">
        <p14:creationId xmlns:p14="http://schemas.microsoft.com/office/powerpoint/2010/main" val="413499907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E6F3576-FAD9-7780-1390-E4CCDDDDF4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91832"/>
            <a:ext cx="3568700" cy="3602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</a:pPr>
            <a:r>
              <a:rPr sz="1800" b="1">
                <a:latin typeface="Helvetica Neue Medium"/>
                <a:ea typeface="Helvetica Neue Medium"/>
                <a:cs typeface="Helvetica Neue Medium"/>
              </a:rPr>
              <a:t>01</a:t>
            </a:r>
          </a:p>
          <a:p xmlns:a="http://schemas.openxmlformats.org/drawingml/2006/main">
            <a:pPr>
              <a:spcAft>
                <a:spcPts val="8"/>
              </a:spcAft>
            </a:pPr>
            <a:r>
              <a:rPr sz="1800" b="1">
                <a:latin typeface="Helvetica Neue Medium"/>
                <a:ea typeface="Helvetica Neue Medium"/>
                <a:cs typeface="Helvetica Neue Medium"/>
              </a:rPr>
              <a:t>Admin access</a:t>
            </a:r>
          </a:p>
          <a:p xmlns:a="http://schemas.openxmlformats.org/drawingml/2006/main">
            <a:pPr>
              <a:spcAft>
                <a:spcPts val="10"/>
              </a:spcAft>
            </a:pPr>
            <a:r>
              <a:rPr sz="1500">
                <a:latin typeface="Helvetica Neue"/>
                <a:ea typeface="Helvetica Neue"/>
                <a:cs typeface="Helvetica Neue"/>
              </a:rPr>
              <a:t>Admin routes use the admin middleware and the is_admin flag.</a:t>
            </a:r>
          </a:p>
          <a:p xmlns:a="http://schemas.openxmlformats.org/drawingml/2006/main">
            <a:pPr>
              <a:spcAft>
                <a:spcPts val="4"/>
              </a:spcAft>
            </a:pPr>
            <a:r>
              <a:rPr sz="1400">
                <a:latin typeface="Helvetica Neue"/>
                <a:ea typeface="Helvetica Neue"/>
                <a:cs typeface="Helvetica Neue"/>
              </a:rPr>
              <a:t>- Guests redirect to admin login</a:t>
            </a:r>
          </a:p>
          <a:p xmlns:a="http://schemas.openxmlformats.org/drawingml/2006/main">
            <a:pPr>
              <a:spcAft>
                <a:spcPts val="4"/>
              </a:spcAft>
            </a:pPr>
            <a:r>
              <a:rPr sz="1400">
                <a:latin typeface="Helvetica Neue"/>
                <a:ea typeface="Helvetica Neue"/>
                <a:cs typeface="Helvetica Neue"/>
              </a:rPr>
              <a:t>- Non-admin users receive 403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EA618B-866F-6F23-43A9-78F2D312787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7ED2788F-D3A7-1987-7296-9AC0BE2A1D1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</a:pPr>
            <a:r>
              <a:rPr sz="1800" b="1">
                <a:latin typeface="Helvetica Neue Medium"/>
                <a:ea typeface="Helvetica Neue Medium"/>
                <a:cs typeface="Helvetica Neue Medium"/>
              </a:rPr>
              <a:t>02</a:t>
            </a:r>
          </a:p>
          <a:p xmlns:a="http://schemas.openxmlformats.org/drawingml/2006/main">
            <a:pPr>
              <a:spcAft>
                <a:spcPts val="8"/>
              </a:spcAft>
            </a:pPr>
            <a:r>
              <a:rPr sz="1800" b="1">
                <a:latin typeface="Helvetica Neue Medium"/>
                <a:ea typeface="Helvetica Neue Medium"/>
                <a:cs typeface="Helvetica Neue Medium"/>
              </a:rPr>
              <a:t>Content status</a:t>
            </a:r>
          </a:p>
          <a:p xmlns:a="http://schemas.openxmlformats.org/drawingml/2006/main">
            <a:pPr>
              <a:spcAft>
                <a:spcPts val="10"/>
              </a:spcAft>
            </a:pPr>
            <a:r>
              <a:rPr sz="1500">
                <a:latin typeface="Helvetica Neue"/>
                <a:ea typeface="Helvetica Neue"/>
                <a:cs typeface="Helvetica Neue"/>
              </a:rPr>
              <a:t>Only done articles are public. Pending articles stay hidden from normal users.</a:t>
            </a:r>
          </a:p>
          <a:p xmlns:a="http://schemas.openxmlformats.org/drawingml/2006/main">
            <a:pPr>
              <a:spcAft>
                <a:spcPts val="4"/>
              </a:spcAft>
            </a:pPr>
            <a:r>
              <a:rPr sz="1400">
                <a:latin typeface="Helvetica Neue"/>
                <a:ea typeface="Helvetica Neue"/>
                <a:cs typeface="Helvetica Neue"/>
              </a:rPr>
              <a:t>- Admins can preview pending articles</a:t>
            </a:r>
          </a:p>
          <a:p xmlns:a="http://schemas.openxmlformats.org/drawingml/2006/main">
            <a:pPr>
              <a:spcAft>
                <a:spcPts val="4"/>
              </a:spcAft>
            </a:pPr>
            <a:r>
              <a:rPr sz="1400">
                <a:latin typeface="Helvetica Neue"/>
                <a:ea typeface="Helvetica Neue"/>
                <a:cs typeface="Helvetica Neue"/>
              </a:rPr>
              <a:t>- One hero article is kept active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B3D00A-6146-FC12-E7D6-0A4E6D490B4A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</a:pPr>
            <a:r>
              <a:rPr sz="1800" b="1">
                <a:latin typeface="Helvetica Neue Medium"/>
                <a:ea typeface="Helvetica Neue Medium"/>
                <a:cs typeface="Helvetica Neue Medium"/>
              </a:rPr>
              <a:t>03</a:t>
            </a:r>
          </a:p>
          <a:p xmlns:a="http://schemas.openxmlformats.org/drawingml/2006/main">
            <a:pPr>
              <a:spcAft>
                <a:spcPts val="8"/>
              </a:spcAft>
            </a:pPr>
            <a:r>
              <a:rPr sz="1800" b="1">
                <a:latin typeface="Helvetica Neue Medium"/>
                <a:ea typeface="Helvetica Neue Medium"/>
                <a:cs typeface="Helvetica Neue Medium"/>
              </a:rPr>
              <a:t>User actions</a:t>
            </a:r>
          </a:p>
          <a:p xmlns:a="http://schemas.openxmlformats.org/drawingml/2006/main">
            <a:pPr>
              <a:spcAft>
                <a:spcPts val="10"/>
              </a:spcAft>
            </a:pPr>
            <a:r>
              <a:rPr sz="1500">
                <a:latin typeface="Helvetica Neue"/>
                <a:ea typeface="Helvetica Neue"/>
                <a:cs typeface="Helvetica Neue"/>
              </a:rPr>
              <a:t>Comments, reactions, and bookmarks all require login.</a:t>
            </a:r>
          </a:p>
          <a:p xmlns:a="http://schemas.openxmlformats.org/drawingml/2006/main">
            <a:pPr>
              <a:spcAft>
                <a:spcPts val="4"/>
              </a:spcAft>
            </a:pPr>
            <a:r>
              <a:rPr sz="1400">
                <a:latin typeface="Helvetica Neue"/>
                <a:ea typeface="Helvetica Neue"/>
                <a:cs typeface="Helvetica Neue"/>
              </a:rPr>
              <a:t>- One reaction per user/article</a:t>
            </a:r>
          </a:p>
          <a:p xmlns:a="http://schemas.openxmlformats.org/drawingml/2006/main">
            <a:pPr>
              <a:spcAft>
                <a:spcPts val="4"/>
              </a:spcAft>
            </a:pPr>
            <a:r>
              <a:rPr sz="1400">
                <a:latin typeface="Helvetica Neue"/>
                <a:ea typeface="Helvetica Neue"/>
                <a:cs typeface="Helvetica Neue"/>
              </a:rPr>
              <a:t>- Bookmark saves toggle on repeat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24C70FFE-9D4B-9EEB-4231-9B1B74B40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Admin and Access Rules</a:t>
            </a:r>
          </a:p>
        </p:txBody>
      </p:sp>
    </p:spTree>
    <p:extLst>
      <p:ext uri="{BB962C8B-B14F-4D97-AF65-F5344CB8AC3E}">
        <p14:creationId xmlns:p14="http://schemas.microsoft.com/office/powerpoint/2010/main" val="296617163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E6F3576-FAD9-7780-1390-E4CCDDDDF4C8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391832"/>
            <a:ext cx="3568700" cy="36025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</a:pPr>
            <a:r>
              <a:rPr sz="1800" b="1">
                <a:latin typeface="Helvetica Neue Medium"/>
                <a:ea typeface="Helvetica Neue Medium"/>
                <a:cs typeface="Helvetica Neue Medium"/>
              </a:rPr>
              <a:t>01</a:t>
            </a:r>
          </a:p>
          <a:p xmlns:a="http://schemas.openxmlformats.org/drawingml/2006/main">
            <a:pPr>
              <a:spcAft>
                <a:spcPts val="8"/>
              </a:spcAft>
            </a:pPr>
            <a:r>
              <a:rPr sz="1800" b="1">
                <a:latin typeface="Helvetica Neue Medium"/>
                <a:ea typeface="Helvetica Neue Medium"/>
                <a:cs typeface="Helvetica Neue Medium"/>
              </a:rPr>
              <a:t>Status visibility</a:t>
            </a:r>
          </a:p>
          <a:p xmlns:a="http://schemas.openxmlformats.org/drawingml/2006/main">
            <a:pPr>
              <a:spcAft>
                <a:spcPts val="10"/>
              </a:spcAft>
            </a:pPr>
            <a:r>
              <a:rPr sz="1500">
                <a:latin typeface="Helvetica Neue"/>
                <a:ea typeface="Helvetica Neue"/>
                <a:cs typeface="Helvetica Neue"/>
              </a:rPr>
              <a:t>The app must show published news publicly while keeping pending articles hidden.</a:t>
            </a:r>
          </a:p>
          <a:p xmlns:a="http://schemas.openxmlformats.org/drawingml/2006/main">
            <a:pPr>
              <a:spcAft>
                <a:spcPts val="4"/>
              </a:spcAft>
            </a:pPr>
            <a:r>
              <a:rPr sz="1400">
                <a:latin typeface="Helvetica Neue"/>
                <a:ea typeface="Helvetica Neue"/>
                <a:cs typeface="Helvetica Neue"/>
              </a:rPr>
              <a:t>- Implemented in NewsController</a:t>
            </a:r>
          </a:p>
          <a:p xmlns:a="http://schemas.openxmlformats.org/drawingml/2006/main">
            <a:pPr>
              <a:spcAft>
                <a:spcPts val="4"/>
              </a:spcAft>
            </a:pPr>
            <a:r>
              <a:rPr sz="1400">
                <a:latin typeface="Helvetica Neue"/>
                <a:ea typeface="Helvetica Neue"/>
                <a:cs typeface="Helvetica Neue"/>
              </a:rPr>
              <a:t>- Covered by feature tests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DBEA618B-866F-6F23-43A9-78F2D312787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7ED2788F-D3A7-1987-7296-9AC0BE2A1D1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</a:pPr>
            <a:r>
              <a:rPr sz="1800" b="1">
                <a:latin typeface="Helvetica Neue Medium"/>
                <a:ea typeface="Helvetica Neue Medium"/>
                <a:cs typeface="Helvetica Neue Medium"/>
              </a:rPr>
              <a:t>02</a:t>
            </a:r>
          </a:p>
          <a:p xmlns:a="http://schemas.openxmlformats.org/drawingml/2006/main">
            <a:pPr>
              <a:spcAft>
                <a:spcPts val="8"/>
              </a:spcAft>
            </a:pPr>
            <a:r>
              <a:rPr sz="1800" b="1">
                <a:latin typeface="Helvetica Neue Medium"/>
                <a:ea typeface="Helvetica Neue Medium"/>
                <a:cs typeface="Helvetica Neue Medium"/>
              </a:rPr>
              <a:t>Live data failure</a:t>
            </a:r>
          </a:p>
          <a:p xmlns:a="http://schemas.openxmlformats.org/drawingml/2006/main">
            <a:pPr>
              <a:spcAft>
                <a:spcPts val="10"/>
              </a:spcAft>
            </a:pPr>
            <a:r>
              <a:rPr sz="1500">
                <a:latin typeface="Helvetica Neue"/>
                <a:ea typeface="Helvetica Neue"/>
                <a:cs typeface="Helvetica Neue"/>
              </a:rPr>
              <a:t>External APIs can fail or change shape, so controllers catch errors.</a:t>
            </a:r>
          </a:p>
          <a:p xmlns:a="http://schemas.openxmlformats.org/drawingml/2006/main">
            <a:pPr>
              <a:spcAft>
                <a:spcPts val="4"/>
              </a:spcAft>
            </a:pPr>
            <a:r>
              <a:rPr sz="1400">
                <a:latin typeface="Helvetica Neue"/>
                <a:ea typeface="Helvetica Neue"/>
                <a:cs typeface="Helvetica Neue"/>
              </a:rPr>
              <a:t>- Successful responses are cached</a:t>
            </a:r>
          </a:p>
          <a:p xmlns:a="http://schemas.openxmlformats.org/drawingml/2006/main">
            <a:pPr>
              <a:spcAft>
                <a:spcPts val="4"/>
              </a:spcAft>
            </a:pPr>
            <a:r>
              <a:rPr sz="1400">
                <a:latin typeface="Helvetica Neue"/>
                <a:ea typeface="Helvetica Neue"/>
                <a:cs typeface="Helvetica Neue"/>
              </a:rPr>
              <a:t>- Views receive an error flag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AB3D00A-6146-FC12-E7D6-0A4E6D490B4A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374900"/>
            <a:ext cx="3568700" cy="36195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8"/>
              </a:spcAft>
            </a:pPr>
            <a:r>
              <a:rPr sz="1800" b="1">
                <a:latin typeface="Helvetica Neue Medium"/>
                <a:ea typeface="Helvetica Neue Medium"/>
                <a:cs typeface="Helvetica Neue Medium"/>
              </a:rPr>
              <a:t>03</a:t>
            </a:r>
          </a:p>
          <a:p xmlns:a="http://schemas.openxmlformats.org/drawingml/2006/main">
            <a:pPr>
              <a:spcAft>
                <a:spcPts val="8"/>
              </a:spcAft>
            </a:pPr>
            <a:r>
              <a:rPr sz="1800" b="1">
                <a:latin typeface="Helvetica Neue Medium"/>
                <a:ea typeface="Helvetica Neue Medium"/>
                <a:cs typeface="Helvetica Neue Medium"/>
              </a:rPr>
              <a:t>Testing proof</a:t>
            </a:r>
          </a:p>
          <a:p xmlns:a="http://schemas.openxmlformats.org/drawingml/2006/main">
            <a:pPr>
              <a:spcAft>
                <a:spcPts val="10"/>
              </a:spcAft>
            </a:pPr>
            <a:r>
              <a:rPr sz="1500">
                <a:latin typeface="Helvetica Neue"/>
                <a:ea typeface="Helvetica Neue"/>
                <a:cs typeface="Helvetica Neue"/>
              </a:rPr>
              <a:t>AdminNewsAccessTest checks the most important project behavior.</a:t>
            </a:r>
          </a:p>
          <a:p xmlns:a="http://schemas.openxmlformats.org/drawingml/2006/main">
            <a:pPr>
              <a:spcAft>
                <a:spcPts val="4"/>
              </a:spcAft>
            </a:pPr>
            <a:r>
              <a:rPr sz="1400">
                <a:latin typeface="Helvetica Neue"/>
                <a:ea typeface="Helvetica Neue"/>
                <a:cs typeface="Helvetica Neue"/>
              </a:rPr>
              <a:t>- Admin route protection and CRUD</a:t>
            </a:r>
          </a:p>
          <a:p xmlns:a="http://schemas.openxmlformats.org/drawingml/2006/main">
            <a:pPr>
              <a:spcAft>
                <a:spcPts val="4"/>
              </a:spcAft>
            </a:pPr>
            <a:r>
              <a:rPr sz="1400">
                <a:latin typeface="Helvetica Neue"/>
                <a:ea typeface="Helvetica Neue"/>
                <a:cs typeface="Helvetica Neue"/>
              </a:rPr>
              <a:t>- Hero fallback and search behavior</a:t>
            </a:r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24C70FFE-9D4B-9EEB-4231-9B1B74B40A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Challenges and Testing</a:t>
            </a:r>
          </a:p>
        </p:txBody>
      </p:sp>
    </p:spTree>
    <p:extLst>
      <p:ext uri="{BB962C8B-B14F-4D97-AF65-F5344CB8AC3E}">
        <p14:creationId xmlns:p14="http://schemas.microsoft.com/office/powerpoint/2010/main" val="2966171638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8" name="Google Shape;558;p61">
            <a:extLst xmlns:a="http://schemas.openxmlformats.org/drawingml/2006/main">
              <a:ext uri="{FF2B5EF4-FFF2-40B4-BE49-F238E27FC236}">
                <a16:creationId xmlns:a16="http://schemas.microsoft.com/office/drawing/2014/main" id="{79EB1316-1603-4369-8C3E-5A5CAB0F13B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/>
              <a:t>Editorial workflow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/>
              <a:t>Add draft preview links, category/tag management, and richer image handling.</a:t>
            </a:r>
          </a:p>
        </p:txBody>
      </p:sp>
      <p:sp>
        <p:nvSpPr>
          <p:cNvPr id="556" name="Google Shape;556;p61">
            <a:extLst xmlns:a="http://schemas.openxmlformats.org/drawingml/2006/main">
              <a:ext uri="{FF2B5EF4-FFF2-40B4-BE49-F238E27FC236}">
                <a16:creationId xmlns:a16="http://schemas.microsoft.com/office/drawing/2014/main" id="{B56061C7-F278-4C65-BE78-E57C9F6C19E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</a:p>
        </p:txBody>
      </p:sp>
      <p:sp>
        <p:nvSpPr>
          <p:cNvPr id="559" name="Google Shape;559;p61">
            <a:extLst xmlns:a="http://schemas.openxmlformats.org/drawingml/2006/main">
              <a:ext uri="{FF2B5EF4-FFF2-40B4-BE49-F238E27FC236}">
                <a16:creationId xmlns:a16="http://schemas.microsoft.com/office/drawing/2014/main" id="{A6E40D1D-5FEB-494C-86A9-59B99FC71BBA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User experience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Add notifications, stronger profile pages, and a responsive mobile polish pass.</a:t>
            </a:r>
          </a:p>
        </p:txBody>
      </p:sp>
      <p:sp>
        <p:nvSpPr>
          <p:cNvPr id="560" name="Google Shape;560;p61">
            <a:extLst xmlns:a="http://schemas.openxmlformats.org/drawingml/2006/main">
              <a:ext uri="{FF2B5EF4-FFF2-40B4-BE49-F238E27FC236}">
                <a16:creationId xmlns:a16="http://schemas.microsoft.com/office/drawing/2014/main" id="{4EB42427-CCC2-48E4-8A22-383CF573ADB8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4013200"/>
            <a:ext cx="3568700" cy="1981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Conclusion</a:t>
            </a:r>
          </a:p>
          <a:p xmlns:a="http://schemas.openxmlformats.org/drawingml/2006/main">
            <a:pPr marL="0" indent="0">
              <a:spcAft>
                <a:spcPts val="1300"/>
              </a:spcAft>
              <a:buNone/>
            </a:pPr>
            <a:r>
              <a:rPr sz="1900">
                <a:solidFill>
                  <a:schemeClr val="dk1"/>
                </a:solidFill>
              </a:rPr>
              <a:t>Knews delivers articles, admin publishing, user engagement, live data, and a JSON feed in one Laravel app.</a:t>
            </a:r>
          </a:p>
        </p:txBody>
      </p:sp>
      <p:sp>
        <p:nvSpPr>
          <p:cNvPr id="557" name="Google Shape;557;p61">
            <a:extLst xmlns:a="http://schemas.openxmlformats.org/drawingml/2006/main">
              <a:ext uri="{FF2B5EF4-FFF2-40B4-BE49-F238E27FC236}">
                <a16:creationId xmlns:a16="http://schemas.microsoft.com/office/drawing/2014/main" id="{FB92A9BF-BD71-49ED-96FC-443574155D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Future Improvements</a:t>
            </a:r>
          </a:p>
        </p:txBody>
      </p:sp>
      <p:sp>
        <p:nvSpPr>
          <p:cNvPr id="561" name="Google Shape;561;p61">
            <a:extLst xmlns:a="http://schemas.openxmlformats.org/drawingml/2006/main">
              <a:ext uri="{FF2B5EF4-FFF2-40B4-BE49-F238E27FC236}">
                <a16:creationId xmlns:a16="http://schemas.microsoft.com/office/drawing/2014/main" id="{FA9FFE52-FB95-460E-850B-287C5694C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904" y="3433102"/>
            <a:ext cx="315580" cy="353873"/>
          </a:xfrm>
          <a:custGeom xmlns:a="http://schemas.openxmlformats.org/drawingml/2006/main">
            <a:rect l="l" t="t" r="r" b="b"/>
            <a:pathLst>
              <a:path w="20236" h="20115">
                <a:moveTo>
                  <a:pt x="11303" y="2594"/>
                </a:moveTo>
                <a:lnTo>
                  <a:pt x="2175" y="11983"/>
                </a:lnTo>
                <a:lnTo>
                  <a:pt x="9033" y="11983"/>
                </a:lnTo>
                <a:cubicBezTo>
                  <a:pt x="9364" y="11983"/>
                  <a:pt x="9678" y="12118"/>
                  <a:pt x="9883" y="12348"/>
                </a:cubicBezTo>
                <a:cubicBezTo>
                  <a:pt x="10089" y="12579"/>
                  <a:pt x="10165" y="12880"/>
                  <a:pt x="10089" y="13166"/>
                </a:cubicBezTo>
                <a:lnTo>
                  <a:pt x="8933" y="17522"/>
                </a:lnTo>
                <a:lnTo>
                  <a:pt x="18061" y="8133"/>
                </a:lnTo>
                <a:lnTo>
                  <a:pt x="11203" y="8133"/>
                </a:lnTo>
                <a:cubicBezTo>
                  <a:pt x="10872" y="8133"/>
                  <a:pt x="10558" y="7999"/>
                  <a:pt x="10353" y="7768"/>
                </a:cubicBezTo>
                <a:cubicBezTo>
                  <a:pt x="10147" y="7537"/>
                  <a:pt x="10071" y="7236"/>
                  <a:pt x="10147" y="6950"/>
                </a:cubicBezTo>
                <a:lnTo>
                  <a:pt x="11303" y="2594"/>
                </a:lnTo>
                <a:close/>
                <a:moveTo>
                  <a:pt x="10382" y="593"/>
                </a:moveTo>
                <a:cubicBezTo>
                  <a:pt x="11679" y="-742"/>
                  <a:pt x="14125" y="363"/>
                  <a:pt x="13670" y="2078"/>
                </a:cubicBezTo>
                <a:lnTo>
                  <a:pt x="12574" y="6208"/>
                </a:lnTo>
                <a:lnTo>
                  <a:pt x="18061" y="6208"/>
                </a:lnTo>
                <a:cubicBezTo>
                  <a:pt x="19918" y="6208"/>
                  <a:pt x="20918" y="8142"/>
                  <a:pt x="19705" y="9390"/>
                </a:cubicBezTo>
                <a:lnTo>
                  <a:pt x="9854" y="19523"/>
                </a:lnTo>
                <a:cubicBezTo>
                  <a:pt x="8557" y="20858"/>
                  <a:pt x="6111" y="19753"/>
                  <a:pt x="6566" y="18038"/>
                </a:cubicBezTo>
                <a:lnTo>
                  <a:pt x="7662" y="13908"/>
                </a:lnTo>
                <a:lnTo>
                  <a:pt x="2175" y="13908"/>
                </a:lnTo>
                <a:cubicBezTo>
                  <a:pt x="318" y="13908"/>
                  <a:pt x="-682" y="11974"/>
                  <a:pt x="531" y="10726"/>
                </a:cubicBezTo>
                <a:lnTo>
                  <a:pt x="10382" y="59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2" name="Google Shape;562;p61">
            <a:extLst xmlns:a="http://schemas.openxmlformats.org/drawingml/2006/main">
              <a:ext uri="{FF2B5EF4-FFF2-40B4-BE49-F238E27FC236}">
                <a16:creationId xmlns:a16="http://schemas.microsoft.com/office/drawing/2014/main" id="{ADF136DC-E745-4394-8308-CC2743B6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666" y="3429011"/>
            <a:ext cx="327078" cy="362074"/>
          </a:xfrm>
          <a:custGeom xmlns:a="http://schemas.openxmlformats.org/drawingml/2006/main">
            <a:rect l="l" t="t" r="r" b="b"/>
            <a:pathLst>
              <a:path w="21600" h="21333">
                <a:moveTo>
                  <a:pt x="11359" y="2130"/>
                </a:moveTo>
                <a:cubicBezTo>
                  <a:pt x="11014" y="1951"/>
                  <a:pt x="10588" y="1951"/>
                  <a:pt x="10241" y="2130"/>
                </a:cubicBezTo>
                <a:lnTo>
                  <a:pt x="3250" y="5732"/>
                </a:lnTo>
                <a:lnTo>
                  <a:pt x="10817" y="9530"/>
                </a:lnTo>
                <a:lnTo>
                  <a:pt x="18593" y="5856"/>
                </a:lnTo>
                <a:lnTo>
                  <a:pt x="11359" y="2130"/>
                </a:lnTo>
                <a:close/>
                <a:moveTo>
                  <a:pt x="19364" y="7749"/>
                </a:moveTo>
                <a:lnTo>
                  <a:pt x="11918" y="11267"/>
                </a:lnTo>
                <a:lnTo>
                  <a:pt x="11918" y="18916"/>
                </a:lnTo>
                <a:lnTo>
                  <a:pt x="18805" y="15367"/>
                </a:lnTo>
                <a:cubicBezTo>
                  <a:pt x="19152" y="15189"/>
                  <a:pt x="19364" y="14860"/>
                  <a:pt x="19364" y="14503"/>
                </a:cubicBezTo>
                <a:lnTo>
                  <a:pt x="19364" y="7749"/>
                </a:lnTo>
                <a:close/>
                <a:moveTo>
                  <a:pt x="9682" y="18916"/>
                </a:moveTo>
                <a:lnTo>
                  <a:pt x="9682" y="11250"/>
                </a:lnTo>
                <a:lnTo>
                  <a:pt x="2236" y="7513"/>
                </a:lnTo>
                <a:lnTo>
                  <a:pt x="2236" y="14503"/>
                </a:lnTo>
                <a:cubicBezTo>
                  <a:pt x="2236" y="14860"/>
                  <a:pt x="2448" y="15189"/>
                  <a:pt x="2795" y="15367"/>
                </a:cubicBezTo>
                <a:lnTo>
                  <a:pt x="9682" y="18916"/>
                </a:lnTo>
                <a:close/>
                <a:moveTo>
                  <a:pt x="9123" y="401"/>
                </a:moveTo>
                <a:cubicBezTo>
                  <a:pt x="10160" y="-133"/>
                  <a:pt x="11440" y="-133"/>
                  <a:pt x="12477" y="401"/>
                </a:cubicBezTo>
                <a:lnTo>
                  <a:pt x="19923" y="4238"/>
                </a:lnTo>
                <a:cubicBezTo>
                  <a:pt x="20962" y="4773"/>
                  <a:pt x="21600" y="5761"/>
                  <a:pt x="21600" y="6830"/>
                </a:cubicBezTo>
                <a:lnTo>
                  <a:pt x="21600" y="14503"/>
                </a:lnTo>
                <a:cubicBezTo>
                  <a:pt x="21600" y="15572"/>
                  <a:pt x="20962" y="16561"/>
                  <a:pt x="19923" y="17096"/>
                </a:cubicBezTo>
                <a:lnTo>
                  <a:pt x="12477" y="20932"/>
                </a:lnTo>
                <a:cubicBezTo>
                  <a:pt x="11440" y="21467"/>
                  <a:pt x="10160" y="21467"/>
                  <a:pt x="9123" y="20932"/>
                </a:cubicBezTo>
                <a:lnTo>
                  <a:pt x="1677" y="17096"/>
                </a:lnTo>
                <a:cubicBezTo>
                  <a:pt x="640" y="16561"/>
                  <a:pt x="0" y="15572"/>
                  <a:pt x="0" y="14503"/>
                </a:cubicBezTo>
                <a:lnTo>
                  <a:pt x="0" y="6830"/>
                </a:lnTo>
                <a:cubicBezTo>
                  <a:pt x="0" y="5761"/>
                  <a:pt x="640" y="4773"/>
                  <a:pt x="1677" y="4238"/>
                </a:cubicBezTo>
                <a:lnTo>
                  <a:pt x="9123" y="40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3" name="Google Shape;563;p61">
            <a:extLst xmlns:a="http://schemas.openxmlformats.org/drawingml/2006/main">
              <a:ext uri="{FF2B5EF4-FFF2-40B4-BE49-F238E27FC236}">
                <a16:creationId xmlns:a16="http://schemas.microsoft.com/office/drawing/2014/main" id="{3A9CEE11-6102-4FFF-9342-8A3ED3ADC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4664" y="3474581"/>
            <a:ext cx="338580" cy="270918"/>
          </a:xfrm>
          <a:custGeom xmlns:a="http://schemas.openxmlformats.org/drawingml/2006/main">
            <a:rect l="l" t="t" r="r" b="b"/>
            <a:pathLst>
              <a:path w="21600" h="21600">
                <a:moveTo>
                  <a:pt x="6220" y="0"/>
                </a:moveTo>
                <a:lnTo>
                  <a:pt x="15380" y="0"/>
                </a:lnTo>
                <a:cubicBezTo>
                  <a:pt x="16250" y="0"/>
                  <a:pt x="16968" y="0"/>
                  <a:pt x="17552" y="59"/>
                </a:cubicBezTo>
                <a:cubicBezTo>
                  <a:pt x="18159" y="122"/>
                  <a:pt x="18717" y="255"/>
                  <a:pt x="19241" y="589"/>
                </a:cubicBezTo>
                <a:cubicBezTo>
                  <a:pt x="20055" y="1106"/>
                  <a:pt x="20715" y="1932"/>
                  <a:pt x="21129" y="2948"/>
                </a:cubicBezTo>
                <a:cubicBezTo>
                  <a:pt x="21396" y="3603"/>
                  <a:pt x="21503" y="4301"/>
                  <a:pt x="21552" y="5060"/>
                </a:cubicBezTo>
                <a:cubicBezTo>
                  <a:pt x="21600" y="5790"/>
                  <a:pt x="21600" y="6688"/>
                  <a:pt x="21600" y="7775"/>
                </a:cubicBezTo>
                <a:lnTo>
                  <a:pt x="21600" y="13825"/>
                </a:lnTo>
                <a:cubicBezTo>
                  <a:pt x="21600" y="14912"/>
                  <a:pt x="21600" y="15810"/>
                  <a:pt x="21552" y="16540"/>
                </a:cubicBezTo>
                <a:cubicBezTo>
                  <a:pt x="21503" y="17299"/>
                  <a:pt x="21396" y="17997"/>
                  <a:pt x="21129" y="18652"/>
                </a:cubicBezTo>
                <a:cubicBezTo>
                  <a:pt x="20715" y="19668"/>
                  <a:pt x="20055" y="20494"/>
                  <a:pt x="19241" y="21011"/>
                </a:cubicBezTo>
                <a:cubicBezTo>
                  <a:pt x="18717" y="21345"/>
                  <a:pt x="18159" y="21478"/>
                  <a:pt x="17552" y="21541"/>
                </a:cubicBezTo>
                <a:cubicBezTo>
                  <a:pt x="16968" y="21600"/>
                  <a:pt x="16250" y="21600"/>
                  <a:pt x="15380" y="21600"/>
                </a:cubicBezTo>
                <a:lnTo>
                  <a:pt x="6220" y="21600"/>
                </a:lnTo>
                <a:cubicBezTo>
                  <a:pt x="5350" y="21600"/>
                  <a:pt x="4632" y="21600"/>
                  <a:pt x="4048" y="21541"/>
                </a:cubicBezTo>
                <a:cubicBezTo>
                  <a:pt x="3441" y="21478"/>
                  <a:pt x="2883" y="21345"/>
                  <a:pt x="2359" y="21011"/>
                </a:cubicBezTo>
                <a:cubicBezTo>
                  <a:pt x="1545" y="20494"/>
                  <a:pt x="885" y="19668"/>
                  <a:pt x="471" y="18652"/>
                </a:cubicBezTo>
                <a:cubicBezTo>
                  <a:pt x="204" y="17997"/>
                  <a:pt x="97" y="17299"/>
                  <a:pt x="48" y="16540"/>
                </a:cubicBezTo>
                <a:cubicBezTo>
                  <a:pt x="0" y="15810"/>
                  <a:pt x="0" y="14912"/>
                  <a:pt x="0" y="13825"/>
                </a:cubicBezTo>
                <a:lnTo>
                  <a:pt x="0" y="7775"/>
                </a:lnTo>
                <a:cubicBezTo>
                  <a:pt x="0" y="6688"/>
                  <a:pt x="0" y="5790"/>
                  <a:pt x="48" y="5060"/>
                </a:cubicBezTo>
                <a:cubicBezTo>
                  <a:pt x="97" y="4301"/>
                  <a:pt x="204" y="3603"/>
                  <a:pt x="471" y="2948"/>
                </a:cubicBezTo>
                <a:cubicBezTo>
                  <a:pt x="885" y="1932"/>
                  <a:pt x="1545" y="1106"/>
                  <a:pt x="2359" y="589"/>
                </a:cubicBezTo>
                <a:cubicBezTo>
                  <a:pt x="2883" y="255"/>
                  <a:pt x="3441" y="122"/>
                  <a:pt x="4048" y="59"/>
                </a:cubicBezTo>
                <a:cubicBezTo>
                  <a:pt x="4632" y="0"/>
                  <a:pt x="5350" y="0"/>
                  <a:pt x="6220" y="0"/>
                </a:cubicBezTo>
                <a:close/>
                <a:moveTo>
                  <a:pt x="2160" y="9450"/>
                </a:moveTo>
                <a:lnTo>
                  <a:pt x="2160" y="13770"/>
                </a:lnTo>
                <a:cubicBezTo>
                  <a:pt x="2160" y="14927"/>
                  <a:pt x="2161" y="15713"/>
                  <a:pt x="2201" y="16320"/>
                </a:cubicBezTo>
                <a:cubicBezTo>
                  <a:pt x="2239" y="16911"/>
                  <a:pt x="2309" y="17215"/>
                  <a:pt x="2395" y="17426"/>
                </a:cubicBezTo>
                <a:cubicBezTo>
                  <a:pt x="2603" y="17933"/>
                  <a:pt x="2933" y="18347"/>
                  <a:pt x="3339" y="18606"/>
                </a:cubicBezTo>
                <a:cubicBezTo>
                  <a:pt x="3508" y="18714"/>
                  <a:pt x="3751" y="18801"/>
                  <a:pt x="4224" y="18849"/>
                </a:cubicBezTo>
                <a:cubicBezTo>
                  <a:pt x="4710" y="18899"/>
                  <a:pt x="5338" y="18900"/>
                  <a:pt x="6264" y="18900"/>
                </a:cubicBezTo>
                <a:lnTo>
                  <a:pt x="15336" y="18900"/>
                </a:lnTo>
                <a:cubicBezTo>
                  <a:pt x="16262" y="18900"/>
                  <a:pt x="16890" y="18899"/>
                  <a:pt x="17376" y="18849"/>
                </a:cubicBezTo>
                <a:cubicBezTo>
                  <a:pt x="17849" y="18801"/>
                  <a:pt x="18092" y="18714"/>
                  <a:pt x="18261" y="18606"/>
                </a:cubicBezTo>
                <a:cubicBezTo>
                  <a:pt x="18667" y="18347"/>
                  <a:pt x="18997" y="17933"/>
                  <a:pt x="19205" y="17426"/>
                </a:cubicBezTo>
                <a:cubicBezTo>
                  <a:pt x="19291" y="17215"/>
                  <a:pt x="19361" y="16911"/>
                  <a:pt x="19399" y="16320"/>
                </a:cubicBezTo>
                <a:cubicBezTo>
                  <a:pt x="19439" y="15713"/>
                  <a:pt x="19440" y="14927"/>
                  <a:pt x="19440" y="13770"/>
                </a:cubicBezTo>
                <a:lnTo>
                  <a:pt x="19440" y="9450"/>
                </a:lnTo>
                <a:lnTo>
                  <a:pt x="2160" y="9450"/>
                </a:lnTo>
                <a:close/>
                <a:moveTo>
                  <a:pt x="19438" y="6750"/>
                </a:moveTo>
                <a:cubicBezTo>
                  <a:pt x="19435" y="6148"/>
                  <a:pt x="19425" y="5677"/>
                  <a:pt x="19399" y="5280"/>
                </a:cubicBezTo>
                <a:cubicBezTo>
                  <a:pt x="19361" y="4689"/>
                  <a:pt x="19291" y="4385"/>
                  <a:pt x="19205" y="4174"/>
                </a:cubicBezTo>
                <a:cubicBezTo>
                  <a:pt x="18997" y="3667"/>
                  <a:pt x="18667" y="3254"/>
                  <a:pt x="18261" y="2994"/>
                </a:cubicBezTo>
                <a:cubicBezTo>
                  <a:pt x="18092" y="2886"/>
                  <a:pt x="17849" y="2799"/>
                  <a:pt x="17376" y="2751"/>
                </a:cubicBezTo>
                <a:cubicBezTo>
                  <a:pt x="16890" y="2701"/>
                  <a:pt x="16262" y="2700"/>
                  <a:pt x="15336" y="2700"/>
                </a:cubicBezTo>
                <a:lnTo>
                  <a:pt x="6264" y="2700"/>
                </a:lnTo>
                <a:cubicBezTo>
                  <a:pt x="5338" y="2700"/>
                  <a:pt x="4710" y="2701"/>
                  <a:pt x="4224" y="2751"/>
                </a:cubicBezTo>
                <a:cubicBezTo>
                  <a:pt x="3751" y="2799"/>
                  <a:pt x="3508" y="2886"/>
                  <a:pt x="3339" y="2994"/>
                </a:cubicBezTo>
                <a:cubicBezTo>
                  <a:pt x="2933" y="3254"/>
                  <a:pt x="2603" y="3667"/>
                  <a:pt x="2395" y="4174"/>
                </a:cubicBezTo>
                <a:cubicBezTo>
                  <a:pt x="2309" y="4385"/>
                  <a:pt x="2239" y="4689"/>
                  <a:pt x="2201" y="5280"/>
                </a:cubicBezTo>
                <a:cubicBezTo>
                  <a:pt x="2175" y="5677"/>
                  <a:pt x="2165" y="6148"/>
                  <a:pt x="2162" y="6750"/>
                </a:cubicBezTo>
                <a:lnTo>
                  <a:pt x="19438" y="6750"/>
                </a:lnTo>
                <a:close/>
                <a:moveTo>
                  <a:pt x="12960" y="14850"/>
                </a:moveTo>
                <a:cubicBezTo>
                  <a:pt x="12960" y="14105"/>
                  <a:pt x="13444" y="13500"/>
                  <a:pt x="14040" y="13500"/>
                </a:cubicBezTo>
                <a:lnTo>
                  <a:pt x="16200" y="13500"/>
                </a:lnTo>
                <a:cubicBezTo>
                  <a:pt x="16796" y="13500"/>
                  <a:pt x="17280" y="14105"/>
                  <a:pt x="17280" y="14850"/>
                </a:cubicBezTo>
                <a:cubicBezTo>
                  <a:pt x="17280" y="15595"/>
                  <a:pt x="16796" y="16200"/>
                  <a:pt x="16200" y="16200"/>
                </a:cubicBezTo>
                <a:lnTo>
                  <a:pt x="14040" y="16200"/>
                </a:lnTo>
                <a:cubicBezTo>
                  <a:pt x="13444" y="16200"/>
                  <a:pt x="12960" y="15595"/>
                  <a:pt x="12960" y="1485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67725" tIns="67725" rIns="67725" bIns="677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415056474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Helvetica Neue">
      <a:majorFont>
        <a:latin typeface="Helvetica Neue"/>
        <a:ea typeface=""/>
        <a:cs typeface=""/>
      </a:majorFont>
      <a:minorFont>
        <a:latin typeface="Helvetica Ne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2026-06-27T04:01:53.3250000Z</dcterms:created>
  <dcterms:modified xsi:type="dcterms:W3CDTF">2026-06-27T04:01:53.3250000Z</dcterms:modified>
</coreProperties>
</file>